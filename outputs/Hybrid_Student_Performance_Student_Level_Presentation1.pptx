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267B2"/>
          </a:solidFill>
          <a:ln w="12700">
            <a:solidFill>
              <a:srgbClr val="4267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Hybrid Student Performance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A master's-level student analysis using Python, charts, and a simple demo workflow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" y="2212848"/>
            <a:ext cx="58978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Instead of making the slides look like a corporate report, we keep the story clear and classroom-ready: what the data says, how we analyzed it, and what we can show live.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3730752"/>
            <a:ext cx="1600200" cy="758952"/>
          </a:xfrm>
          <a:prstGeom prst="rect">
            <a:avLst/>
          </a:prstGeom>
          <a:solidFill>
            <a:srgbClr val="EAF1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1,200</a:t>
            </a:r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student records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42032" y="3730752"/>
            <a:ext cx="1417320" cy="758952"/>
          </a:xfrm>
          <a:prstGeom prst="rect">
            <a:avLst/>
          </a:prstGeom>
          <a:solidFill>
            <a:srgbClr val="ECF7EC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36</a:t>
            </a:r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dataset columns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87952" y="3730752"/>
            <a:ext cx="1325880" cy="758952"/>
          </a:xfrm>
          <a:prstGeom prst="rect">
            <a:avLst/>
          </a:prstGeom>
          <a:solidFill>
            <a:srgbClr val="FFF5DD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3</a:t>
            </a:r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risk levels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980426" y="2057400"/>
            <a:ext cx="829818" cy="829818"/>
          </a:xfrm>
          <a:prstGeom prst="arc">
            <a:avLst/>
          </a:prstGeom>
          <a:noFill/>
          <a:ln w="25400">
            <a:solidFill>
              <a:srgbClr val="4267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740" y="2178101"/>
            <a:ext cx="362102" cy="362102"/>
          </a:xfrm>
          <a:prstGeom prst="ellipse">
            <a:avLst/>
          </a:prstGeom>
          <a:solidFill>
            <a:srgbClr val="4267B2"/>
          </a:solidFill>
          <a:ln w="12700">
            <a:solidFill>
              <a:srgbClr val="4267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65338" y="2691079"/>
            <a:ext cx="829818" cy="829818"/>
          </a:xfrm>
          <a:prstGeom prst="rect">
            <a:avLst/>
          </a:prstGeom>
          <a:solidFill>
            <a:srgbClr val="DDEAFF"/>
          </a:solidFill>
          <a:ln w="12700">
            <a:solidFill>
              <a:srgbClr val="4267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87434" y="2751430"/>
            <a:ext cx="1885950" cy="1131570"/>
          </a:xfrm>
          <a:prstGeom prst="rect">
            <a:avLst/>
          </a:prstGeom>
          <a:solidFill>
            <a:srgbClr val="FFFFFF"/>
          </a:solidFill>
          <a:ln w="1524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11996" y="3943350"/>
            <a:ext cx="21122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59011" y="3038094"/>
            <a:ext cx="12070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4267B2"/>
                </a:solidFill>
              </a:rPr>
              <a:t>data.csv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13232" y="5577840"/>
            <a:ext cx="1920240" cy="292608"/>
          </a:xfrm>
          <a:prstGeom prst="rect">
            <a:avLst/>
          </a:prstGeom>
          <a:solidFill>
            <a:srgbClr val="FFF5DD"/>
          </a:solidFill>
          <a:ln>
            <a:solidFill>
              <a:srgbClr val="D9E2EC">
                <a:alpha val="6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</a:rPr>
              <a:t>Person 1 to Person 8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88920" y="5559552"/>
            <a:ext cx="5303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267B2"/>
                </a:solidFill>
              </a:rPr>
              <a:t>Topic: Hybrid student performance and risk patterns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MSDS 5033 Python Group Assignment | Hybrid Student Performance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What are we trying to understand?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464040" y="3474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267B2"/>
                </a:solidFill>
              </a:rPr>
              <a:t>Person 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question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1700784"/>
            <a:ext cx="44805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Which student habits and academic signals are most related to performance risk in a hybrid learning setting?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806440" y="1143000"/>
            <a:ext cx="5120640" cy="1325880"/>
          </a:xfrm>
          <a:prstGeom prst="rect">
            <a:avLst/>
          </a:prstGeom>
          <a:solidFill>
            <a:srgbClr val="EAF1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Why this matters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Hybrid learning gives flexibility, but it also makes self-management very important. Students may struggle even when they are attending online and submitting some work.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806440" y="2743200"/>
            <a:ext cx="5120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Our plan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Use Python to clean the CSV, summarize categories, build charts, and connect the results to a simple application demo.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806440" y="4251960"/>
            <a:ext cx="5120640" cy="1097280"/>
          </a:xfrm>
          <a:prstGeom prst="rect">
            <a:avLst/>
          </a:prstGeom>
          <a:solidFill>
            <a:srgbClr val="ECF7E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End goal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Find patterns that could help a faculty member or advisor identify support areas early.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MSDS 5033 Python Group Assignment | Hybrid Student Performance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Dataset snapshot: what is inside the CSV?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464040" y="3474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267B2"/>
                </a:solidFill>
              </a:rPr>
              <a:t>Person 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pic>
        <p:nvPicPr>
          <p:cNvPr id="5" name="Image 0" descr="/mnt/data/hybrid_student_assets/program_stre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0"/>
            <a:ext cx="534924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1143000"/>
            <a:ext cx="1417320" cy="758952"/>
          </a:xfrm>
          <a:prstGeom prst="rect">
            <a:avLst/>
          </a:prstGeom>
          <a:solidFill>
            <a:srgbClr val="EAF1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1,200</a:t>
            </a:r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rows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092440" y="1143000"/>
            <a:ext cx="1417320" cy="758952"/>
          </a:xfrm>
          <a:prstGeom prst="rect">
            <a:avLst/>
          </a:prstGeom>
          <a:solidFill>
            <a:srgbClr val="ECF7EC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36</a:t>
            </a:r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columns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784080" y="1143000"/>
            <a:ext cx="1508760" cy="758952"/>
          </a:xfrm>
          <a:prstGeom prst="rect">
            <a:avLst/>
          </a:prstGeom>
          <a:solidFill>
            <a:srgbClr val="FFF5DD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7</a:t>
            </a:r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program streams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400800" y="2423160"/>
            <a:ext cx="4526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Columns are not only grades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The file includes CGPA category, attendance, study habits, consistency, stress, sleep, distractions, and career readiness.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0" y="3886200"/>
            <a:ext cx="4526280" cy="914400"/>
          </a:xfrm>
          <a:prstGeom prst="rect">
            <a:avLst/>
          </a:prstGeom>
          <a:solidFill>
            <a:srgbClr val="EAF1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Target variable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performance_risk_level has three categories: Low Risk, Moderate Risk, and High Risk.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400800" y="5166360"/>
            <a:ext cx="4480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This is useful because performance risk is treated as a combination of academics, behavior, and wellness.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MSDS 5033 Python Group Assignment | Hybrid Student Performance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Data cleaning and Python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464040" y="3474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267B2"/>
                </a:solidFill>
              </a:rPr>
              <a:t>Person 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2926080" cy="960120"/>
          </a:xfrm>
          <a:prstGeom prst="rect">
            <a:avLst/>
          </a:prstGeom>
          <a:solidFill>
            <a:srgbClr val="EAF1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Step 1: Read the CSV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Load the file with the correct encoding, then check rows, columns, and column names.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926080" cy="960120"/>
          </a:xfrm>
          <a:prstGeom prst="rect">
            <a:avLst/>
          </a:prstGeom>
          <a:solidFill>
            <a:srgbClr val="ECF7E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Step 2: Clean labels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Fix dash/encoding symbols, keep readable categories, and check missing values.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2926080" cy="960120"/>
          </a:xfrm>
          <a:prstGeom prst="rect">
            <a:avLst/>
          </a:prstGeom>
          <a:solidFill>
            <a:srgbClr val="FFF5DD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Step 3: Analyze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Use value counts, group averages, and cross-tabs by risk level.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5074920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Step 4: Export outputs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Save charts and a short summary report for the demo.</a:t>
            </a:r>
            <a:endParaRPr lang="en-US" sz="1450" dirty="0"/>
          </a:p>
        </p:txBody>
      </p:sp>
      <p:pic>
        <p:nvPicPr>
          <p:cNvPr id="9" name="Image 0" descr="/mnt/data/hybrid_student_assets/demo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417320"/>
            <a:ext cx="7086600" cy="4114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480560" y="5715000"/>
            <a:ext cx="6309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This slide prepares the audience for the demo later, so they understand that the final output comes from code.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MSDS 5033 Python Group Assignment | Hybrid Student Performance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Finding 1: many students are in the middle-risk group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464040" y="3474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267B2"/>
                </a:solidFill>
              </a:rPr>
              <a:t>Person 3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pic>
        <p:nvPicPr>
          <p:cNvPr id="5" name="Image 0" descr="/mnt/data/hybrid_student_assets/risk_stu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97280"/>
            <a:ext cx="5669280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12280" y="1234440"/>
            <a:ext cx="4160520" cy="1005840"/>
          </a:xfrm>
          <a:prstGeom prst="rect">
            <a:avLst/>
          </a:prstGeom>
          <a:solidFill>
            <a:srgbClr val="FFF5DD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What we see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Moderate Risk is the largest group, followed by High Risk. Low Risk is the smallest group.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812280" y="260604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How we interpret it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This means the dataset is not only about students who are already in trouble. A large group may improve with earlier support.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12280" y="4160520"/>
            <a:ext cx="4160520" cy="1143000"/>
          </a:xfrm>
          <a:prstGeom prst="rect">
            <a:avLst/>
          </a:prstGeom>
          <a:solidFill>
            <a:srgbClr val="EAF1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Presentation wording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“The main opportunity is prevention. We want to move moderate-risk students toward better habits before they become high-risk.”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MSDS 5033 Python Group Assignment | Hybrid Student Performance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Finding 2: study consistency matters more than just intention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464040" y="3474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267B2"/>
                </a:solidFill>
              </a:rPr>
              <a:t>Person 4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pic>
        <p:nvPicPr>
          <p:cNvPr id="5" name="Image 0" descr="/mnt/data/hybrid_student_assets/consistency_stu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97280"/>
            <a:ext cx="5532120" cy="3429000"/>
          </a:xfrm>
          <a:prstGeom prst="rect">
            <a:avLst/>
          </a:prstGeom>
        </p:spPr>
      </p:pic>
      <p:pic>
        <p:nvPicPr>
          <p:cNvPr id="6" name="Image 1" descr="/mnt/data/hybrid_student_assets/study_hours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097280"/>
            <a:ext cx="4983480" cy="3429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5074920"/>
            <a:ext cx="10241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Simple takeaway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Students who rarely study consistently show the weakest risk profile. More daily study time also reduces high-risk share.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MSDS 5033 Python Group Assignment | Hybrid Student Performance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Finding 3: attendance is a strong warning 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464040" y="3474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267B2"/>
                </a:solidFill>
              </a:rPr>
              <a:t>Person 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pic>
        <p:nvPicPr>
          <p:cNvPr id="5" name="Image 0" descr="/mnt/data/hybrid_student_assets/attendance_stu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43000"/>
            <a:ext cx="580644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03720" y="1234440"/>
            <a:ext cx="4023360" cy="1143000"/>
          </a:xfrm>
          <a:prstGeom prst="rect">
            <a:avLst/>
          </a:prstGeom>
          <a:solidFill>
            <a:srgbClr val="FDEDE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What the chart says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High-risk percentage is very high for students with low attendance and much lower for students above 85% attendance.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903720" y="2697480"/>
            <a:ext cx="4023360" cy="1051560"/>
          </a:xfrm>
          <a:prstGeom prst="rect">
            <a:avLst/>
          </a:prstGeom>
          <a:solidFill>
            <a:srgbClr val="EAF1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Why this is useful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Attendance is easy to track compared with hidden factors like motivation. It can be used as an early alert.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903720" y="40690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Student-level explanation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We are not saying attendance alone causes performance. We are saying it is a clear signal that deserves attention.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MSDS 5033 Python Group Assignment | Hybrid Student Performance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Finding 4: wellness and distractions also show patterns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464040" y="3474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267B2"/>
                </a:solidFill>
              </a:rPr>
              <a:t>Person 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pic>
        <p:nvPicPr>
          <p:cNvPr id="5" name="Image 0" descr="/mnt/data/hybrid_student_assets/wellness_stu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5486400" cy="3291840"/>
          </a:xfrm>
          <a:prstGeom prst="rect">
            <a:avLst/>
          </a:prstGeom>
        </p:spPr>
      </p:pic>
      <p:pic>
        <p:nvPicPr>
          <p:cNvPr id="6" name="Image 1" descr="/mnt/data/hybrid_student_assets/distractors_stud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051560"/>
            <a:ext cx="4937760" cy="3291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4892040"/>
            <a:ext cx="4800600" cy="685800"/>
          </a:xfrm>
          <a:prstGeom prst="rect">
            <a:avLst/>
          </a:prstGeom>
          <a:solidFill>
            <a:srgbClr val="FDEDE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Wellness side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High-risk students have lower average energy and productivity, while stress stays high.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629400" y="4892040"/>
            <a:ext cx="4663440" cy="685800"/>
          </a:xfrm>
          <a:prstGeom prst="rect">
            <a:avLst/>
          </a:prstGeom>
          <a:solidFill>
            <a:srgbClr val="FFF5DD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Distraction side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Social media and video content are the most common distractors, which matters in hybrid learning because students use screens constantly.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MSDS 5033 Python Group Assignment | Hybrid Student Performance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Career readiness: interest is present, but structure is needed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464040" y="3474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267B2"/>
                </a:solidFill>
              </a:rPr>
              <a:t>Person 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4389120" cy="1143000"/>
          </a:xfrm>
          <a:prstGeom prst="rect">
            <a:avLst/>
          </a:prstGeom>
          <a:solidFill>
            <a:srgbClr val="EAF1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What we looked at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Career interest, online courses, projects/internships, programming foundation, events participation, and preparation status.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4389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Student interpretation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A student may be interested in AI, data, cybersecurity, or software, but interest does not automatically mean readiness.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4389120" cy="1234440"/>
          </a:xfrm>
          <a:prstGeom prst="rect">
            <a:avLst/>
          </a:prstGeom>
          <a:solidFill>
            <a:srgbClr val="ECF7E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Suggested support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Give students a simple pathway: improve foundations, complete one small project, join one event, and track progress monthly.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760720" y="1874520"/>
            <a:ext cx="1234440" cy="685800"/>
          </a:xfrm>
          <a:prstGeom prst="chevron">
            <a:avLst/>
          </a:prstGeom>
          <a:solidFill>
            <a:srgbClr val="EAF1FF"/>
          </a:solidFill>
          <a:ln w="12700">
            <a:solidFill>
              <a:srgbClr val="4267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9592" y="20848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Skills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78040" y="1874520"/>
            <a:ext cx="1234440" cy="685800"/>
          </a:xfrm>
          <a:prstGeom prst="chevron">
            <a:avLst/>
          </a:prstGeom>
          <a:solidFill>
            <a:srgbClr val="FFF5DD"/>
          </a:solidFill>
          <a:ln w="12700">
            <a:solidFill>
              <a:srgbClr val="C58A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20848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Project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95360" y="1874520"/>
            <a:ext cx="1234440" cy="685800"/>
          </a:xfrm>
          <a:prstGeom prst="chevron">
            <a:avLst/>
          </a:prstGeom>
          <a:solidFill>
            <a:srgbClr val="ECF7EC"/>
          </a:solidFill>
          <a:ln w="12700">
            <a:solidFill>
              <a:srgbClr val="4F7F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0" y="20848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Course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12680" y="1874520"/>
            <a:ext cx="1234440" cy="685800"/>
          </a:xfrm>
          <a:prstGeom prst="chevron">
            <a:avLst/>
          </a:prstGeom>
          <a:solidFill>
            <a:srgbClr val="FDEDEC"/>
          </a:solidFill>
          <a:ln w="12700">
            <a:solidFill>
              <a:srgbClr val="B94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49256" y="20848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Internship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9320" y="3337560"/>
            <a:ext cx="50292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This part connects the analysis to practical student development, not only marks or attendance.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MSDS 5033 Python Group Assignment | Hybrid Student Performance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Demo slide: what we will show live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464040" y="3474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267B2"/>
                </a:solidFill>
              </a:rPr>
              <a:t>Person 7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pic>
        <p:nvPicPr>
          <p:cNvPr id="5" name="Image 0" descr="/mnt/data/hybrid_student_assets/demo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0"/>
            <a:ext cx="617220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78040" y="1188720"/>
            <a:ext cx="4114800" cy="1828800"/>
          </a:xfrm>
          <a:prstGeom prst="rect">
            <a:avLst/>
          </a:prstGeom>
          <a:solidFill>
            <a:srgbClr val="EAF1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Live demo steps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1. Open the project folder</a:t>
            </a:r>
            <a:endParaRPr lang="en-US" sz="1450" dirty="0"/>
          </a:p>
          <a:p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2. Run main.py</a:t>
            </a:r>
            <a:endParaRPr lang="en-US" sz="1450" dirty="0"/>
          </a:p>
          <a:p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3. Show row/column count</a:t>
            </a:r>
            <a:endParaRPr lang="en-US" sz="1450" dirty="0"/>
          </a:p>
          <a:p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4. Generate charts</a:t>
            </a:r>
            <a:endParaRPr lang="en-US" sz="1450" dirty="0"/>
          </a:p>
          <a:p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5. Open summary_report.txt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178040" y="3337560"/>
            <a:ext cx="4114800" cy="1097280"/>
          </a:xfrm>
          <a:prstGeom prst="rect">
            <a:avLst/>
          </a:prstGeom>
          <a:solidFill>
            <a:srgbClr val="ECF7E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What this proves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The project is not only a presentation. The Python program can take the raw CSV and create useful outputs.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178040" y="47091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Backup plan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If the live run has an issue, show the saved terminal screenshot and the generated chart images from outputs/charts.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MSDS 5033 Python Group Assignment | Hybrid Student Performance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Limitations and what we would improve next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464040" y="3474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267B2"/>
                </a:solidFill>
              </a:rPr>
              <a:t>Person 8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3383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Limitation 1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The dataset is survey-style, so some answers may be self-reported and subjective.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434840" y="1234440"/>
            <a:ext cx="3383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Limitation 2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Our analysis mainly shows relationships and patterns. It does not prove cause and effect.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92440" y="1234440"/>
            <a:ext cx="3383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Limitation 3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Some missing values exist, so we should be careful with very small subgroup conclusions.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383280" cy="1234440"/>
          </a:xfrm>
          <a:prstGeom prst="rect">
            <a:avLst/>
          </a:prstGeom>
          <a:solidFill>
            <a:srgbClr val="EAF1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Improvement 1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Build a simple Streamlit or Tkinter app for uploading a file and generating charts automatically.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34840" y="3154680"/>
            <a:ext cx="3383280" cy="1234440"/>
          </a:xfrm>
          <a:prstGeom prst="rect">
            <a:avLst/>
          </a:prstGeom>
          <a:solidFill>
            <a:srgbClr val="ECF7E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Improvement 2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Add a scoring model or machine learning model only after validating the features carefully.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92440" y="3154680"/>
            <a:ext cx="3383280" cy="1234440"/>
          </a:xfrm>
          <a:prstGeom prst="rect">
            <a:avLst/>
          </a:prstGeom>
          <a:solidFill>
            <a:srgbClr val="FFF5DD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Improvement 3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Compare results across semesters to see if risk patterns are stable over time.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MSDS 5033 Python Group Assignment | Hybrid Student Performance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Closing: what each person contributes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464040" y="3474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267B2"/>
                </a:solidFill>
              </a:rPr>
              <a:t>Person 8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5257800" cy="749808"/>
          </a:xfrm>
          <a:prstGeom prst="rect">
            <a:avLst/>
          </a:prstGeom>
          <a:solidFill>
            <a:srgbClr val="EAF1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Person 1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Introduction + research question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55080" y="1143000"/>
            <a:ext cx="5257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Person 2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Dataset + cleaning workflow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5257800" cy="749808"/>
          </a:xfrm>
          <a:prstGeom prst="rect">
            <a:avLst/>
          </a:prstGeom>
          <a:solidFill>
            <a:srgbClr val="EAF1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Person 3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Risk-level overview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55080" y="2240280"/>
            <a:ext cx="5257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Person 4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Study habits and consistency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5800" y="3337560"/>
            <a:ext cx="5257800" cy="749808"/>
          </a:xfrm>
          <a:prstGeom prst="rect">
            <a:avLst/>
          </a:prstGeom>
          <a:solidFill>
            <a:srgbClr val="EAF1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Person 5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Attendance and academic warning signs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55080" y="3337560"/>
            <a:ext cx="5257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Person 6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Wellness, distractions, and career readiness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85800" y="4434840"/>
            <a:ext cx="5257800" cy="749808"/>
          </a:xfrm>
          <a:prstGeom prst="rect">
            <a:avLst/>
          </a:prstGeom>
          <a:solidFill>
            <a:srgbClr val="EAF1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Person 7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Demo walkthrough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55080" y="4434840"/>
            <a:ext cx="5257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Person 8
</a:t>
            </a:r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</a:rPr>
              <a:t>Limitations, recommendations, and closing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68680" y="5440680"/>
            <a:ext cx="8229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Final message: Hybrid performance risk is not caused by one factor. It is a mix of attendance, consistency, wellness, distractions, and readiness habits.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46920" y="530352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EAF1FF"/>
          </a:solidFill>
          <a:ln w="12700">
            <a:solidFill>
              <a:srgbClr val="4267B2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0" y="5468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67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MSDS 5033 Python Group Assignment | Hybrid Student Performance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2A2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MSDS 5033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Student Performance - Student Level</dc:title>
  <dc:subject>Hybrid Student Performance</dc:subject>
  <dc:creator>MSDS 5033 Group</dc:creator>
  <cp:lastModifiedBy>MSDS 5033 Group</cp:lastModifiedBy>
  <cp:revision>1</cp:revision>
  <dcterms:created xsi:type="dcterms:W3CDTF">2026-06-07T15:06:43Z</dcterms:created>
  <dcterms:modified xsi:type="dcterms:W3CDTF">2026-06-07T15:06:43Z</dcterms:modified>
</cp:coreProperties>
</file>